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077AA">
              <a:alpha val="20000"/>
            </a:srgbClr>
          </a:solidFill>
          <a:ln w="12700">
            <a:solidFill>
              <a:srgbClr val="0077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777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MajiSmart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 Water Intelligence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423160"/>
            <a:ext cx="5029200" cy="18288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invisible water loss through machine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246120"/>
            <a:ext cx="1828800" cy="548640"/>
          </a:xfrm>
          <a:prstGeom prst="rect">
            <a:avLst/>
          </a:prstGeom>
          <a:solidFill>
            <a:srgbClr val="071528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SDG 6</a:t>
            </a:r>
            <a:pPr indent="0" marL="0">
              <a:buNone/>
            </a:pPr>
            <a:r>
              <a:rPr lang="en-US" sz="10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 Water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3246120"/>
            <a:ext cx="1828800" cy="548640"/>
          </a:xfrm>
          <a:prstGeom prst="rect">
            <a:avLst/>
          </a:prstGeom>
          <a:solidFill>
            <a:srgbClr val="07152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SDG 11</a:t>
            </a:r>
            <a:pPr indent="0" marL="0">
              <a:buNone/>
            </a:pPr>
            <a:r>
              <a:rPr lang="en-US" sz="10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Sustainable Cities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E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USIU-AFRICA INNOVATION CHALLENGE  ·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Kenya loses ~45% of distributed water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it reaches a tap.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is invisible — slow leaks in pipes and joints that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detects until a massive water bill arrives.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4572000" cy="566928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834640"/>
            <a:ext cx="54864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Early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run for months before anyone notices the bill spike.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4572000" cy="566928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493008"/>
            <a:ext cx="54864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Usage Visibility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767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have zero data on consumption until month-end.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151376"/>
            <a:ext cx="4572000" cy="566928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51376"/>
            <a:ext cx="54864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4256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sensors flag irrigation as leaks — users ignore them.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822960"/>
            <a:ext cx="3200400" cy="38404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051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4B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557784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distributed water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undetected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&amp; infrastructure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Kenya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43434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E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Water Services Regulatory Board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MajiSmart — Water Intelligence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Three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2651760" cy="324612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4592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 Flow Sensor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286000" cy="9144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YF-S201 ultrasonic sensor straps onto existing pipes. No meter tampering. Reads flow every 30 seconds.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645920"/>
            <a:ext cx="2651760" cy="324612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4592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Detection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3017520"/>
            <a:ext cx="2286000" cy="9144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analyses 11 features — variance, time patterns, sustained duration — to distinguish leaks from usage.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2651760" cy="324612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645920"/>
            <a:ext cx="26517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2286000" cy="9144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alerts, predictive billing in KES, community benchmarking, and Farmer Mode to eliminate false positives.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3154680"/>
            <a:ext cx="228600" cy="36576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2D4A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897880" y="3154680"/>
            <a:ext cx="228600" cy="36576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2D4A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it tell a leak from a shower?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356616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Insight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leak's flow variance is unnaturally 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using water creates spikes that return to zero.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leaking pipe creates a flat, constant signal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zero, even at 3AM.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749040" cy="521208"/>
          </a:xfrm>
          <a:prstGeom prst="rect">
            <a:avLst/>
          </a:prstGeom>
          <a:solidFill>
            <a:srgbClr val="040D1A"/>
          </a:solidFill>
          <a:ln w="9525">
            <a:solidFill>
              <a:srgbClr val="FF4B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64008" cy="521208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540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644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0.003  ·  Never zero  ·  3AM+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3749040" cy="521208"/>
          </a:xfrm>
          <a:prstGeom prst="rect">
            <a:avLst/>
          </a:prstGeom>
          <a:solidFill>
            <a:srgbClr val="040D1A"/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30168"/>
            <a:ext cx="64008" cy="5212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66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3.1  ·  Spikes then zeros  ·  7AM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3749040" cy="521208"/>
          </a:xfrm>
          <a:prstGeom prst="rect">
            <a:avLst/>
          </a:prstGeom>
          <a:solidFill>
            <a:srgbClr val="040D1A"/>
          </a:solidFill>
          <a:ln w="9525">
            <a:solidFill>
              <a:srgbClr val="F5C5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42816"/>
            <a:ext cx="64008" cy="5212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IRRIGATION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4897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burst  ·  Scheduled  ·  Suppressed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14800" cy="356616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· 11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rolling_variance  ← #1 leak signal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03120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103120"/>
            <a:ext cx="3474720" cy="9144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40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near_zero_count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523744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523744"/>
            <a:ext cx="2501798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614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flow_lpm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944368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944368"/>
            <a:ext cx="236281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82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hour_sin / hour_cos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64992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364992"/>
            <a:ext cx="1911096" cy="914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027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is_night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785616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785616"/>
            <a:ext cx="1563624" cy="91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23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sustained_ticks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4206240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4206240"/>
            <a:ext cx="1042416" cy="91440"/>
          </a:xfrm>
          <a:prstGeom prst="rect">
            <a:avLst/>
          </a:prstGeom>
          <a:solidFill>
            <a:srgbClr val="0077AA"/>
          </a:solidFill>
          <a:ln w="12700">
            <a:solidFill>
              <a:srgbClr val="0077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4439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is_scheduled  ← Farmer Mode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4626864"/>
            <a:ext cx="3474720" cy="91440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626864"/>
            <a:ext cx="625450" cy="91440"/>
          </a:xfrm>
          <a:prstGeom prst="rect">
            <a:avLst/>
          </a:prstGeom>
          <a:solidFill>
            <a:srgbClr val="5A8AAB"/>
          </a:solidFill>
          <a:ln w="12700">
            <a:solidFill>
              <a:srgbClr val="5A8AA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 Mode — Eliminating False Positives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leak detector fails in the same way: it can't tell the difference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 broken pipe and someone watering their garden.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4114800" cy="29260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65960"/>
            <a:ext cx="4114800" cy="64008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FARMER MODE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L/min detected at 6AM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LEAK DETECTED 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210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receives panic alert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684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just irrigation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disables the 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114800" cy="29260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965960"/>
            <a:ext cx="41148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FARMER MODE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L/min detected at 6AM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735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schedule: Mon 06:00–07:00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210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found — event is planned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684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Scheduled irrigation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315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alert. Trust maintained.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PERFORMANCE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 that speak for themselves.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10972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325880"/>
            <a:ext cx="1920240" cy="10972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10972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0060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ALARMS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20240" cy="10972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6,937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4944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 / SEC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5303520" cy="219456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Setup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20,160 labelled readings  ·  7 days of simulated sensor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29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scenario types: idle, normal use, leak, irrigation, tank fill, burst pipe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80/20 train-test split  ·  5-fold cross-validation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87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  ·  100 trees  ·  class_weight='balanced'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2697480"/>
            <a:ext cx="2880360" cy="219456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2004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0" y="32004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Normal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32004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Anomaly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43600" y="3721608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Normal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0" y="3721608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3,696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3721608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242816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Anomaly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242816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242816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336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Screens. One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206240" cy="16002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20624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FF"/>
                </a:solidFill>
              </a:rPr>
              <a:t>◎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Monitor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gauge + real-time status. Scenario switcher for live demos. Instant leak alert banner with estimated loss rate.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206240" cy="16002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42062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A0"/>
                </a:solidFill>
              </a:rPr>
              <a:t>⌇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58968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20299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colour-coded bar chart. Leak loss estimate in litres + KES. Predictive end-of-month bill. Flow signature explainer.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206240" cy="16002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42062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518"/>
                </a:solidFill>
              </a:rPr>
              <a:t>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leaderboard. Your rank vs. campus average. Gamified efficiency scoring drives behaviour change.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4206240" cy="16002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108960"/>
            <a:ext cx="4206240" cy="54864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B6E"/>
                </a:solidFill>
              </a:rPr>
              <a:t>◷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58968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 Mode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767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high-use events. AI checks schedule before firing alerts. Add, toggle, and delete schedules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end-to-end in 72 hours.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630936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64008" cy="63093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HARDWARE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 ·  YF-S201 ultrasonic flow sensor  ·  LoRaWAN / Wi-Fi  ·  Edge pre-processing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48256"/>
            <a:ext cx="8412480" cy="630936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48256"/>
            <a:ext cx="64008" cy="63093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9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⌁  SIMULATOR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13969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6 scenario generators  ·  20,160 readings  ·  4 modes: batch / live / replay / demo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8412480" cy="630936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70632"/>
            <a:ext cx="64008" cy="63093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62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 AI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8620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RandomForestClassifier  ·  11 features  ·  joblib model serialisation  ·  6,937 inferences/sec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8412480" cy="630936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93008"/>
            <a:ext cx="64008" cy="63093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84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5844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WebSocket real-time stream  ·  NWSC tiered billing engine  ·  REST API + Swagger docs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15384"/>
            <a:ext cx="8412480" cy="630936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15384"/>
            <a:ext cx="64008" cy="63093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◻  FRONTEND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430682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Recharts  ·  Live WebSocket feed  ·  4 pages  ·  Responsive design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&amp;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campus to country.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560320" cy="13716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898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~60L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/ HOUR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detected leak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560320" cy="13716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898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 180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SAVING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household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560320" cy="137160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3898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SENSOR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PIPE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~KES 800 total cost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214884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Roadmap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74320" cy="27432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355848"/>
            <a:ext cx="2423160" cy="36576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USIU-Africa pilot  ·  Software demo  ·  Simulated sensor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3246120"/>
            <a:ext cx="274320" cy="27432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3355848"/>
            <a:ext cx="2423160" cy="36576"/>
          </a:xfrm>
          <a:prstGeom prst="rect">
            <a:avLst/>
          </a:prstGeom>
          <a:solidFill>
            <a:srgbClr val="0E2D4A"/>
          </a:solidFill>
          <a:ln w="12700">
            <a:solidFill>
              <a:srgbClr val="0E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3794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months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461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sensors on campus  ·  Firebase live data  ·  Student beta testers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3246120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794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months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 residential estates  ·  Utility partnership  ·  City-scale leak 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365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💧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litre counts.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8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MajiSmart gives Kenyans the data to stop losing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1554480" cy="384048"/>
          </a:xfrm>
          <a:prstGeom prst="rect">
            <a:avLst/>
          </a:prstGeom>
          <a:solidFill>
            <a:srgbClr val="071528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71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 Detection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3120" y="2834640"/>
            <a:ext cx="1554480" cy="384048"/>
          </a:xfrm>
          <a:prstGeom prst="rect">
            <a:avLst/>
          </a:prstGeom>
          <a:solidFill>
            <a:srgbClr val="071528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871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False Positives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94760" y="2834640"/>
            <a:ext cx="1554480" cy="384048"/>
          </a:xfrm>
          <a:prstGeom prst="rect">
            <a:avLst/>
          </a:prstGeom>
          <a:solidFill>
            <a:srgbClr val="071528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871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KES Billing Forecast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0" y="2834640"/>
            <a:ext cx="1554480" cy="384048"/>
          </a:xfrm>
          <a:prstGeom prst="rect">
            <a:avLst/>
          </a:prstGeom>
          <a:solidFill>
            <a:srgbClr val="071528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871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Benchmarking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78040" y="2834640"/>
            <a:ext cx="1554480" cy="384048"/>
          </a:xfrm>
          <a:prstGeom prst="rect">
            <a:avLst/>
          </a:prstGeom>
          <a:solidFill>
            <a:srgbClr val="071528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871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SDG 6 + SDG 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6400800" cy="1097280"/>
          </a:xfrm>
          <a:prstGeom prst="rect">
            <a:avLst/>
          </a:prstGeom>
          <a:solidFill>
            <a:srgbClr val="071528"/>
          </a:solidFill>
          <a:ln w="9525">
            <a:solidFill>
              <a:srgbClr val="0E2D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8800" y="3566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Contacts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3886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Dr. Billy Wadongo  ·  i2c@usiu.ac.ke     Alice Jeremoki  ·  ajeremoki@usiu.ac.ke     Christine Adede  ·  cadede@usiu.ac.ke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0E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USIU-AFRICA INNOVATION CHALLENGE 2026  ·  72-HOUR HACKATHON  ·  MARCH 12–14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MajiSmart — USIU-Africa Innovation Challenge 2026</dc:title>
  <dc:subject>PptxGenJS Presentation</dc:subject>
  <dc:creator>MajiSmart Team</dc:creator>
  <cp:lastModifiedBy>MajiSmart Team</cp:lastModifiedBy>
  <cp:revision>1</cp:revision>
  <dcterms:created xsi:type="dcterms:W3CDTF">2026-03-05T17:21:24Z</dcterms:created>
  <dcterms:modified xsi:type="dcterms:W3CDTF">2026-03-05T17:21:24Z</dcterms:modified>
</cp:coreProperties>
</file>